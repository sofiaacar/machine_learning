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110" d="100"/>
          <a:sy n="110" d="100"/>
        </p:scale>
        <p:origin x="-1608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76200"/>
            <a:ext cx="9134552" cy="66864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defTabSz="274320"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FF0000"/>
                </a:solidFill>
              </a:rPr>
              <a:t>Exploratory Data Analysis and </a:t>
            </a:r>
            <a:r>
              <a:rPr lang="en-US" sz="2000" b="1" dirty="0" smtClean="0">
                <a:solidFill>
                  <a:srgbClr val="FF0000"/>
                </a:solidFill>
              </a:rPr>
              <a:t>Visualization</a:t>
            </a:r>
            <a:endParaRPr lang="tr-TR" sz="2000" dirty="0" smtClean="0">
              <a:solidFill>
                <a:srgbClr val="FF0000"/>
              </a:solidFill>
            </a:endParaRPr>
          </a:p>
          <a:p>
            <a:pPr marL="285750" indent="-285750" defTabSz="274320"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tr-TR" sz="2000" b="1" dirty="0" smtClean="0">
                <a:solidFill>
                  <a:srgbClr val="FF0000"/>
                </a:solidFill>
              </a:rPr>
              <a:t>Machine Learning</a:t>
            </a:r>
          </a:p>
          <a:p>
            <a:pPr marL="574675" lvl="1" indent="-287338" defTabSz="274320">
              <a:spcAft>
                <a:spcPts val="300"/>
              </a:spcAft>
              <a:buFont typeface="Wingdings" panose="05000000000000000000" pitchFamily="2" charset="2"/>
              <a:buChar char="v"/>
            </a:pPr>
            <a:r>
              <a:rPr lang="tr-TR" b="1" dirty="0" smtClean="0">
                <a:solidFill>
                  <a:srgbClr val="0070C0"/>
                </a:solidFill>
              </a:rPr>
              <a:t>Train | Test Split</a:t>
            </a:r>
            <a:endParaRPr lang="tr-TR" b="1" dirty="0">
              <a:solidFill>
                <a:srgbClr val="0070C0"/>
              </a:solidFill>
            </a:endParaRPr>
          </a:p>
          <a:p>
            <a:pPr marL="796925" lvl="2" indent="-222250" defTabSz="274320"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tr-TR" sz="1600" b="1" dirty="0" smtClean="0">
                <a:solidFill>
                  <a:prstClr val="black"/>
                </a:solidFill>
              </a:rPr>
              <a:t>X_train, </a:t>
            </a:r>
            <a:r>
              <a:rPr lang="tr-TR" sz="1600" b="1" dirty="0">
                <a:solidFill>
                  <a:prstClr val="black"/>
                </a:solidFill>
              </a:rPr>
              <a:t>X_test, </a:t>
            </a:r>
            <a:r>
              <a:rPr lang="tr-TR" sz="1600" b="1" dirty="0" smtClean="0">
                <a:solidFill>
                  <a:prstClr val="black"/>
                </a:solidFill>
              </a:rPr>
              <a:t>y_train, y_test = train_test_split()</a:t>
            </a:r>
          </a:p>
          <a:p>
            <a:pPr marL="574675" lvl="1" indent="-287338" defTabSz="274320">
              <a:spcAft>
                <a:spcPts val="300"/>
              </a:spcAft>
              <a:buFont typeface="Wingdings" panose="05000000000000000000" pitchFamily="2" charset="2"/>
              <a:buChar char="v"/>
            </a:pPr>
            <a:r>
              <a:rPr lang="tr-TR" b="1" dirty="0" smtClean="0">
                <a:solidFill>
                  <a:srgbClr val="0070C0"/>
                </a:solidFill>
              </a:rPr>
              <a:t>Scalling (if needed)</a:t>
            </a:r>
            <a:endParaRPr lang="tr-TR" b="1" dirty="0">
              <a:solidFill>
                <a:srgbClr val="0070C0"/>
              </a:solidFill>
            </a:endParaRPr>
          </a:p>
          <a:p>
            <a:pPr marL="796925" lvl="2" indent="-222250" defTabSz="274320"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tr-TR" sz="1600" b="1" dirty="0">
                <a:solidFill>
                  <a:prstClr val="black"/>
                </a:solidFill>
              </a:rPr>
              <a:t>s</a:t>
            </a:r>
            <a:r>
              <a:rPr lang="tr-TR" sz="1600" b="1" dirty="0" smtClean="0">
                <a:solidFill>
                  <a:prstClr val="black"/>
                </a:solidFill>
              </a:rPr>
              <a:t>caler = scaler_name()</a:t>
            </a:r>
          </a:p>
          <a:p>
            <a:pPr marL="796925" lvl="2" indent="-222250" defTabSz="274320"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tr-TR" sz="1600" b="1" dirty="0" smtClean="0">
                <a:solidFill>
                  <a:prstClr val="black"/>
                </a:solidFill>
              </a:rPr>
              <a:t>scaler.fit_transform(X_train)</a:t>
            </a:r>
          </a:p>
          <a:p>
            <a:pPr marL="796925" lvl="2" indent="-222250" defTabSz="274320"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tr-TR" sz="1600" b="1" dirty="0" smtClean="0">
                <a:solidFill>
                  <a:prstClr val="black"/>
                </a:solidFill>
              </a:rPr>
              <a:t>scaler.transform(X_test)</a:t>
            </a:r>
          </a:p>
          <a:p>
            <a:pPr marL="574675" lvl="1" indent="-287338" defTabSz="274320">
              <a:spcAft>
                <a:spcPts val="300"/>
              </a:spcAft>
              <a:buFont typeface="Wingdings" panose="05000000000000000000" pitchFamily="2" charset="2"/>
              <a:buChar char="v"/>
            </a:pPr>
            <a:r>
              <a:rPr lang="tr-TR" b="1" dirty="0" smtClean="0">
                <a:solidFill>
                  <a:srgbClr val="0070C0"/>
                </a:solidFill>
              </a:rPr>
              <a:t>Modelling</a:t>
            </a:r>
          </a:p>
          <a:p>
            <a:pPr marL="796925" lvl="2" indent="-222250" defTabSz="274320"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tr-TR" sz="1600" b="1" dirty="0">
                <a:solidFill>
                  <a:prstClr val="black"/>
                </a:solidFill>
              </a:rPr>
              <a:t>m</a:t>
            </a:r>
            <a:r>
              <a:rPr lang="tr-TR" sz="1600" b="1" dirty="0" smtClean="0">
                <a:solidFill>
                  <a:prstClr val="black"/>
                </a:solidFill>
              </a:rPr>
              <a:t>odel = model_name().fit(X_train, y_train)</a:t>
            </a:r>
          </a:p>
          <a:p>
            <a:pPr marL="796925" lvl="2" indent="-222250" defTabSz="274320"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tr-TR" sz="1600" b="1" dirty="0" smtClean="0">
                <a:solidFill>
                  <a:prstClr val="black"/>
                </a:solidFill>
              </a:rPr>
              <a:t>y_pred = model.predict(X_test)</a:t>
            </a:r>
          </a:p>
          <a:p>
            <a:pPr marL="796925" lvl="2" indent="-222250" defTabSz="274320"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tr-TR" sz="1600" b="1" dirty="0" smtClean="0">
                <a:solidFill>
                  <a:prstClr val="black"/>
                </a:solidFill>
              </a:rPr>
              <a:t>y_pred_proba </a:t>
            </a:r>
            <a:r>
              <a:rPr lang="tr-TR" sz="1600" b="1" dirty="0">
                <a:solidFill>
                  <a:prstClr val="black"/>
                </a:solidFill>
              </a:rPr>
              <a:t>= </a:t>
            </a:r>
            <a:r>
              <a:rPr lang="tr-TR" sz="1600" b="1" dirty="0" smtClean="0">
                <a:solidFill>
                  <a:prstClr val="black"/>
                </a:solidFill>
              </a:rPr>
              <a:t>model.predict_proba(X_test</a:t>
            </a:r>
            <a:r>
              <a:rPr lang="tr-TR" sz="1600" b="1" dirty="0">
                <a:solidFill>
                  <a:prstClr val="black"/>
                </a:solidFill>
              </a:rPr>
              <a:t>)</a:t>
            </a:r>
          </a:p>
          <a:p>
            <a:pPr marL="574675" lvl="1" indent="-287338" defTabSz="274320">
              <a:spcAft>
                <a:spcPts val="300"/>
              </a:spcAft>
              <a:buFont typeface="Wingdings" panose="05000000000000000000" pitchFamily="2" charset="2"/>
              <a:buChar char="v"/>
            </a:pPr>
            <a:r>
              <a:rPr lang="tr-TR" b="1" dirty="0" smtClean="0">
                <a:solidFill>
                  <a:srgbClr val="0070C0"/>
                </a:solidFill>
              </a:rPr>
              <a:t>Model Performance</a:t>
            </a:r>
          </a:p>
          <a:p>
            <a:pPr marL="796925" lvl="2" indent="-222250" defTabSz="274320"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tr-TR" sz="1600" b="1" dirty="0" smtClean="0">
                <a:solidFill>
                  <a:prstClr val="black"/>
                </a:solidFill>
              </a:rPr>
              <a:t>Regression		=&gt; r2_score, MAE, MSE, RMSE</a:t>
            </a:r>
          </a:p>
          <a:p>
            <a:pPr marL="796925" lvl="2" indent="-222250" defTabSz="274320"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tr-TR" sz="1600" b="1" dirty="0" smtClean="0">
                <a:solidFill>
                  <a:prstClr val="black"/>
                </a:solidFill>
              </a:rPr>
              <a:t>Classification		=&gt; accuracy, recall, precision, f1_score (confusion_matrix, classification_report)</a:t>
            </a:r>
          </a:p>
          <a:p>
            <a:pPr marL="796925" lvl="2" indent="-222250" defTabSz="274320"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tr-TR" sz="1600" b="1" dirty="0" smtClean="0">
                <a:solidFill>
                  <a:prstClr val="black"/>
                </a:solidFill>
              </a:rPr>
              <a:t>Cross Validate	=&gt; cross_val_score, cross_validate</a:t>
            </a:r>
          </a:p>
          <a:p>
            <a:pPr marL="574675" lvl="1" indent="-287338" defTabSz="274320">
              <a:spcAft>
                <a:spcPts val="300"/>
              </a:spcAft>
              <a:buFont typeface="Wingdings" panose="05000000000000000000" pitchFamily="2" charset="2"/>
              <a:buChar char="v"/>
            </a:pPr>
            <a:r>
              <a:rPr lang="tr-TR" b="1" dirty="0" smtClean="0">
                <a:solidFill>
                  <a:srgbClr val="0070C0"/>
                </a:solidFill>
              </a:rPr>
              <a:t>Tunning (if needed)</a:t>
            </a:r>
          </a:p>
          <a:p>
            <a:pPr marL="796925" lvl="2" indent="-222250" defTabSz="274320"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tr-TR" sz="1600" b="1" dirty="0">
                <a:solidFill>
                  <a:prstClr val="black"/>
                </a:solidFill>
              </a:rPr>
              <a:t>g</a:t>
            </a:r>
            <a:r>
              <a:rPr lang="tr-TR" sz="1600" b="1" dirty="0" smtClean="0">
                <a:solidFill>
                  <a:prstClr val="black"/>
                </a:solidFill>
              </a:rPr>
              <a:t>rid_param = {}</a:t>
            </a:r>
          </a:p>
          <a:p>
            <a:pPr marL="796925" lvl="2" indent="-222250" defTabSz="274320"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tr-TR" sz="1600" b="1" dirty="0" smtClean="0">
                <a:solidFill>
                  <a:prstClr val="black"/>
                </a:solidFill>
              </a:rPr>
              <a:t>GridsearchCV(grid_param)</a:t>
            </a:r>
          </a:p>
          <a:p>
            <a:pPr marL="574675" lvl="1" indent="-287338" defTabSz="274320">
              <a:spcAft>
                <a:spcPts val="300"/>
              </a:spcAft>
              <a:buFont typeface="Wingdings" panose="05000000000000000000" pitchFamily="2" charset="2"/>
              <a:buChar char="v"/>
            </a:pPr>
            <a:r>
              <a:rPr lang="tr-TR" b="1" dirty="0" smtClean="0">
                <a:solidFill>
                  <a:srgbClr val="0070C0"/>
                </a:solidFill>
              </a:rPr>
              <a:t>Final Model</a:t>
            </a:r>
            <a:endParaRPr lang="tr-TR" b="1" dirty="0">
              <a:solidFill>
                <a:srgbClr val="0070C0"/>
              </a:solidFill>
            </a:endParaRPr>
          </a:p>
          <a:p>
            <a:pPr marL="796925" lvl="2" indent="-222250" defTabSz="274320"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tr-TR" sz="1600" b="1" dirty="0">
                <a:solidFill>
                  <a:prstClr val="black"/>
                </a:solidFill>
              </a:rPr>
              <a:t>model = model_name</a:t>
            </a:r>
            <a:r>
              <a:rPr lang="tr-TR" sz="1600" b="1" dirty="0" smtClean="0">
                <a:solidFill>
                  <a:prstClr val="black"/>
                </a:solidFill>
              </a:rPr>
              <a:t>().fit(X, y)</a:t>
            </a:r>
          </a:p>
          <a:p>
            <a:pPr marL="285750" indent="-285750" defTabSz="274320"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tr-TR" sz="2000" b="1" dirty="0" smtClean="0">
                <a:solidFill>
                  <a:srgbClr val="FF0000"/>
                </a:solidFill>
              </a:rPr>
              <a:t>Model Deployment</a:t>
            </a:r>
            <a:endParaRPr lang="en-US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3197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262</TotalTime>
  <Words>54</Words>
  <Application>Microsoft Office PowerPoint</Application>
  <PresentationFormat>On-screen Show (4:3)</PresentationFormat>
  <Paragraphs>22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acer</dc:creator>
  <cp:lastModifiedBy>acer</cp:lastModifiedBy>
  <cp:revision>7</cp:revision>
  <dcterms:created xsi:type="dcterms:W3CDTF">2006-08-16T00:00:00Z</dcterms:created>
  <dcterms:modified xsi:type="dcterms:W3CDTF">2021-09-30T17:16:33Z</dcterms:modified>
</cp:coreProperties>
</file>